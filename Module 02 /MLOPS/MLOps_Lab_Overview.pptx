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62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082C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MLOps 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— Build, Track, Test, Deploy &amp; Monitor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MLOps  —  Instructor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in a notebook is not a model in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MLOPS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8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locally, email a .pkl file to "the server guy"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8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which data or params produced which model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8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 — regressions ship silently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8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undocumented deployment steps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8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once it's live — issues surface as complaints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9659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42316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models versioned — every result is reproducible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tracked: params, metrics, artifacts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gate every promotion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builds, ships, and deploys the model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flags drift before customers notice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MLOps lifecycle for a customer-churn classifier — deployed live on AWS.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E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versioned with DVC, every model version tracked in MLflow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46704" y="19659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75304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47872" y="30175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gates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47872" y="365760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pytest-driven tests block any model that regresses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44768" y="19659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E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3368" y="22402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45936" y="30175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deployment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45936" y="365760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Terraform-provisioned AWS infra; FastAPI served from Docker on EC2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42832" y="19659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71432" y="224028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9171432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44000" y="30175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not manual steps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0" y="365760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 → train → gate → build → deploy, on every push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4297680"/>
          </a:xfrm>
          <a:prstGeom prst="roundRect">
            <a:avLst>
              <a:gd name="adj" fmla="val 2500"/>
            </a:avLst>
          </a:prstGeom>
          <a:solidFill>
            <a:srgbClr val="EEF3F7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src/  api/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infra/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3703320"/>
            <a:ext cx="502920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69164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874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pytest (data + model)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train.py + register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evaluate.py (quality gate)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docker build → push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ssh deploy to EC2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0" y="3703320"/>
            <a:ext cx="502920" cy="27432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69164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EF3F7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ap-south-1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233172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data · MLflow artifacts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324612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246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repository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image registry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4160520"/>
            <a:ext cx="3017520" cy="1600200"/>
          </a:xfrm>
          <a:prstGeom prst="roundRect">
            <a:avLst>
              <a:gd name="adj" fmla="val 3429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"mlops-host"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49640" y="4572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Server :5000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churn-api container :8000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(FastAPI, loads Production model)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classifier that predicts whether a telecom customer will churn, </a:t>
            </a:r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synthetic dataset generated on the spot —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lab never depends on a flaky download or an expired dataset link.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tenure_months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306324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monthly_charges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66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total_charges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356616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5661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support_tickets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69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num_products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406908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4069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contract_score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usage_score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4572000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satisfaction_score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1417320"/>
            <a:ext cx="4526280" cy="4206240"/>
          </a:xfrm>
          <a:prstGeom prst="roundRect">
            <a:avLst>
              <a:gd name="adj" fmla="val 2174"/>
            </a:avLst>
          </a:prstGeom>
          <a:solidFill>
            <a:srgbClr val="0B3D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· tuned via Optuna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703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1520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(realistic imbalance)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4709160"/>
            <a:ext cx="3931920" cy="0"/>
          </a:xfrm>
          <a:prstGeom prst="line">
            <a:avLst/>
          </a:prstGeom>
          <a:noFill/>
          <a:ln w="12700">
            <a:solidFill>
              <a:srgbClr val="2C56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8920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a real production churn model — swap the data source and nothing else changes.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01368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98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320540" y="18013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898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versioning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9460" y="1801368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898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+ registry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600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898380" y="1801368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28986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531620" y="3813048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1531620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910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4320540" y="38130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320540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910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35" name="Shape 33"/>
          <p:cNvSpPr/>
          <p:nvPr/>
        </p:nvSpPr>
        <p:spPr>
          <a:xfrm>
            <a:off x="7109460" y="3813048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6" name="Text 34"/>
          <p:cNvSpPr/>
          <p:nvPr/>
        </p:nvSpPr>
        <p:spPr>
          <a:xfrm>
            <a:off x="7109460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63640" y="4910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40" name="Shape 38"/>
          <p:cNvSpPr/>
          <p:nvPr/>
        </p:nvSpPr>
        <p:spPr>
          <a:xfrm>
            <a:off x="9898380" y="3813048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1" name="Text 39"/>
          <p:cNvSpPr/>
          <p:nvPr/>
        </p:nvSpPr>
        <p:spPr>
          <a:xfrm>
            <a:off x="9898380" y="3813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05256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(S3·ECR·EC2)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52560" y="49103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sessions, one continuous build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six lectures of Module 02 — MLOps, so it runs lecture-by-lecture or as one showcase.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703320"/>
            <a:ext cx="9445752" cy="0"/>
          </a:xfrm>
          <a:prstGeom prst="line">
            <a:avLst/>
          </a:prstGeom>
          <a:noFill/>
          <a:ln w="38100">
            <a:solidFill>
              <a:srgbClr val="D7E0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3410712"/>
            <a:ext cx="585216" cy="5852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12140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Foundations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57860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+ Terraform infra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68142" y="3410712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2968142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60750" y="3995928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392070" y="41605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2465222" y="427024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5222" y="4727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gates + MLflow experiment tracking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57293" y="3410712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9" name="Text 17"/>
          <p:cNvSpPr/>
          <p:nvPr/>
        </p:nvSpPr>
        <p:spPr>
          <a:xfrm>
            <a:off x="4857293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9901" y="3246120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281221" y="20116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4354373" y="212140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Versioning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54373" y="257860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+ S3, pipeline automation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46443" y="3410712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5" name="Text 23"/>
          <p:cNvSpPr/>
          <p:nvPr/>
        </p:nvSpPr>
        <p:spPr>
          <a:xfrm>
            <a:off x="6746443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39051" y="3995928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170371" y="41605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28" name="Text 26"/>
          <p:cNvSpPr/>
          <p:nvPr/>
        </p:nvSpPr>
        <p:spPr>
          <a:xfrm>
            <a:off x="6243523" y="427024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&amp;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3523" y="4727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search + FastAPI serving app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35594" y="3410712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1" name="Text 29"/>
          <p:cNvSpPr/>
          <p:nvPr/>
        </p:nvSpPr>
        <p:spPr>
          <a:xfrm>
            <a:off x="8635594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928202" y="3246120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059522" y="201168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34" name="Text 32"/>
          <p:cNvSpPr/>
          <p:nvPr/>
        </p:nvSpPr>
        <p:spPr>
          <a:xfrm>
            <a:off x="8132674" y="212140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32674" y="257860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ECR → EC2, scalable serving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524744" y="3410712"/>
            <a:ext cx="585216" cy="585216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7" name="Text 35"/>
          <p:cNvSpPr/>
          <p:nvPr/>
        </p:nvSpPr>
        <p:spPr>
          <a:xfrm>
            <a:off x="10524744" y="34107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817352" y="3995928"/>
            <a:ext cx="0" cy="164592"/>
          </a:xfrm>
          <a:prstGeom prst="line">
            <a:avLst/>
          </a:prstGeom>
          <a:noFill/>
          <a:ln w="19050">
            <a:solidFill>
              <a:srgbClr val="D7E0E7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948672" y="41605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EF3F7"/>
          </a:solidFill>
          <a:ln/>
        </p:spPr>
      </p:sp>
      <p:sp>
        <p:nvSpPr>
          <p:cNvPr id="40" name="Text 38"/>
          <p:cNvSpPr/>
          <p:nvPr/>
        </p:nvSpPr>
        <p:spPr>
          <a:xfrm>
            <a:off x="10021824" y="427024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CI/CD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21824" y="4727448"/>
            <a:ext cx="15910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drift monitoring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Foundations, testing &amp; experiment tracking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with Terraform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ECR, IAM role, security group, EC2 host — one apply.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+ model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checks schema, churn-rate sanity, and that the model clears a naive baseline.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before promotion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fails the pipeline if f1 or roc_auc drop below threshold.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0B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737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20574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customer-churn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2514600"/>
            <a:ext cx="4297680" cy="621792"/>
          </a:xfrm>
          <a:prstGeom prst="roundRect">
            <a:avLst>
              <a:gd name="adj" fmla="val 7353"/>
            </a:avLst>
          </a:prstGeom>
          <a:solidFill>
            <a:srgbClr val="13476C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51460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287000" y="251460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0.83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3291840"/>
            <a:ext cx="4297680" cy="621792"/>
          </a:xfrm>
          <a:prstGeom prst="roundRect">
            <a:avLst>
              <a:gd name="adj" fmla="val 7353"/>
            </a:avLst>
          </a:prstGeom>
          <a:solidFill>
            <a:srgbClr val="13476C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29184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3291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n_estimators=300, depth=8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287000" y="329184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0.85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86600" y="4069080"/>
            <a:ext cx="4297680" cy="621792"/>
          </a:xfrm>
          <a:prstGeom prst="roundRect">
            <a:avLst>
              <a:gd name="adj" fmla="val 7353"/>
            </a:avLst>
          </a:prstGeom>
          <a:solidFill>
            <a:srgbClr val="F2A54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406908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(best)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40690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2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optuna trial #14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287000" y="406908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0.87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50292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run: params, metrics, and the model artifact — logged automatically.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 versioning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a small pointer file. The data itself lives in S3.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rows, generated fresh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90672" y="25877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add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69748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churn.csv.dvc pointer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25312" y="25877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+ push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69748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goes to 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59952" y="25877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194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269748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2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 goes to S3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0B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Git commit can be checked out together with the exact dataset version it was trained against — roll back the code, and dvc checkout rolls back the data to match. The same pattern that keeps multi-GB datasets out of Git also keeps the repo fast to clone.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API development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search with Optuna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trials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searching n_estimators, max_depth, min_samples_leaf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 logged as a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MLflow run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compare all 20 side by side in the UI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trial's model is re-logged and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automatically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50876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0B3D6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API — FastAPI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13476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65176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6517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2569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model + version loaded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338328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13476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3438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churn_probability + churn_prediction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43484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Production-aliased model straight from the MLflow registry at startup.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scalable serving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44952" y="23591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8288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ECR repo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33872" y="23591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8288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EC2 host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22792" y="2359152"/>
            <a:ext cx="256032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8915400" y="182880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19933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28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D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:8000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B3D6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EC2 CONTAINER IS FOR THE LAB — NOT PRODUCTION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extension exercise: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container with an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service behind an Application Load Balancer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 auto-scaling on request count or CPU, and compare to serving the same image on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(Deployment + Service + HPA) from Module 01 — same scaling idea, different orchestrator.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Orchestration, CI/CD &amp; monitoring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data + model quality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95928" y="2290572"/>
            <a:ext cx="237744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train_and_gate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evaluate.py blocks regressions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99248" y="2290572"/>
            <a:ext cx="237744" cy="219456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8288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build_and_deploy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ECR → SSH deploy to EC2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automatically on every git push — no manual pipeline steps.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monitoring: statistical drift detection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mean/std of each incoming feature against the training-time baseline; a z-shift beyond threshold raises an alert — the same signal that, in production, would page the team before customers notice a bad prediction.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82C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today's run actually produced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82C4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82C47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82C4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82C47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provisioned by Terraform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2C56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262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8,000 synthetic rows, registered to the MLflow Model Registry, and served live from a FastAPI container on EC2 — reachable at http://&lt;ec2_public_ip&gt;:8000/docs.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goes wrong (and why it's worth knowing)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09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Region-scoped resources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EC2 key pair created in one region silently doesn't exist in another — always match Terraform's region.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709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scripts can partially fail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package name can abort an entire apt-get command before Docker even installs.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858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defaults bite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3.x blocks any Host header except localhost by default — needs --allowed-hosts explicitly.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858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evolve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4526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deprecated Stages in favor of Aliases — models:/name/Production became models:/name@production.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029200" cy="5029200"/>
          </a:xfrm>
          <a:prstGeom prst="ellipse">
            <a:avLst/>
          </a:prstGeom>
          <a:solidFill>
            <a:srgbClr val="082C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take this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5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single EC2 container for ECS Fargate + auto-scaling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5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manual pipeline with a scheduled Airflow DAG or Prefect deployment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5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drift-detection library (Evidently / PSI) in place of the z-score check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5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canary deployment: run the new model alongside Production before promoting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en-US" sz="15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dataset and re-run the exact same pipeline end to 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0" y="169164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082C47"/>
          </a:solidFill>
          <a:ln/>
        </p:spPr>
      </p:sp>
      <p:sp>
        <p:nvSpPr>
          <p:cNvPr id="7" name="Text 5"/>
          <p:cNvSpPr/>
          <p:nvPr/>
        </p:nvSpPr>
        <p:spPr>
          <a:xfrm>
            <a:off x="864108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41080" y="2240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github.com/&lt;org&gt;/&lt;repo&gt;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branch: mlops-lab-e2e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41080" y="3017520"/>
            <a:ext cx="2788920" cy="0"/>
          </a:xfrm>
          <a:prstGeom prst="line">
            <a:avLst/>
          </a:prstGeom>
          <a:noFill/>
          <a:ln w="12700">
            <a:solidFill>
              <a:srgbClr val="2C5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41080" y="35204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· Terraform infra · CI/CD workflow · CloudShell runbook (PDF) · this deck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DevOps, MLOps, AIOps &amp; LLMOps Engineer Program  |  Module 02 — MLOps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2026-08-29T14:45:32Z</dcterms:created>
  <dcterms:modified xsi:type="dcterms:W3CDTF">2026-08-29T14:45:32Z</dcterms:modified>
</cp:coreProperties>
</file>